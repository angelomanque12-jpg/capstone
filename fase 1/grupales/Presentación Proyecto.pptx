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j2EtnxinZmeQ6cTp0JHean74IE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6" name="Google Shape;5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498079" y="1097280"/>
            <a:ext cx="164592" cy="164592"/>
          </a:xfrm>
          <a:prstGeom prst="ellipse">
            <a:avLst/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8229600" y="1920240"/>
            <a:ext cx="164592" cy="164592"/>
          </a:xfrm>
          <a:prstGeom prst="ellipse">
            <a:avLst/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1"/>
          <p:cNvCxnSpPr/>
          <p:nvPr/>
        </p:nvCxnSpPr>
        <p:spPr>
          <a:xfrm>
            <a:off x="7580375" y="1179576"/>
            <a:ext cx="731521" cy="822960"/>
          </a:xfrm>
          <a:prstGeom prst="straightConnector1">
            <a:avLst/>
          </a:prstGeom>
          <a:noFill/>
          <a:ln cap="flat" cmpd="sng" w="25400">
            <a:solidFill>
              <a:srgbClr val="2A9D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8" name="Google Shape;88;p1"/>
          <p:cNvSpPr/>
          <p:nvPr/>
        </p:nvSpPr>
        <p:spPr>
          <a:xfrm>
            <a:off x="7772400" y="2834640"/>
            <a:ext cx="164592" cy="164592"/>
          </a:xfrm>
          <a:prstGeom prst="ellipse">
            <a:avLst/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1"/>
          <p:cNvCxnSpPr/>
          <p:nvPr/>
        </p:nvCxnSpPr>
        <p:spPr>
          <a:xfrm flipH="1">
            <a:off x="7854696" y="2002536"/>
            <a:ext cx="457200" cy="914400"/>
          </a:xfrm>
          <a:prstGeom prst="straightConnector1">
            <a:avLst/>
          </a:prstGeom>
          <a:noFill/>
          <a:ln cap="flat" cmpd="sng" w="25400">
            <a:solidFill>
              <a:srgbClr val="2A9D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0" name="Google Shape;90;p1"/>
          <p:cNvSpPr/>
          <p:nvPr/>
        </p:nvSpPr>
        <p:spPr>
          <a:xfrm>
            <a:off x="9144000" y="3657600"/>
            <a:ext cx="164592" cy="164592"/>
          </a:xfrm>
          <a:prstGeom prst="ellipse">
            <a:avLst/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7854696" y="2916936"/>
            <a:ext cx="1371600" cy="822960"/>
          </a:xfrm>
          <a:prstGeom prst="straightConnector1">
            <a:avLst/>
          </a:prstGeom>
          <a:noFill/>
          <a:ln cap="flat" cmpd="sng" w="25400">
            <a:solidFill>
              <a:srgbClr val="2A9D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2" name="Google Shape;92;p1"/>
          <p:cNvSpPr/>
          <p:nvPr/>
        </p:nvSpPr>
        <p:spPr>
          <a:xfrm>
            <a:off x="8595360" y="4754880"/>
            <a:ext cx="164592" cy="164592"/>
          </a:xfrm>
          <a:prstGeom prst="ellipse">
            <a:avLst/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"/>
          <p:cNvCxnSpPr/>
          <p:nvPr/>
        </p:nvCxnSpPr>
        <p:spPr>
          <a:xfrm flipH="1">
            <a:off x="8677656" y="3739896"/>
            <a:ext cx="548640" cy="1097280"/>
          </a:xfrm>
          <a:prstGeom prst="straightConnector1">
            <a:avLst/>
          </a:prstGeom>
          <a:noFill/>
          <a:ln cap="flat" cmpd="sng" w="25400">
            <a:solidFill>
              <a:srgbClr val="2A9D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4" name="Google Shape;94;p1"/>
          <p:cNvSpPr/>
          <p:nvPr/>
        </p:nvSpPr>
        <p:spPr>
          <a:xfrm>
            <a:off x="10241280" y="5577840"/>
            <a:ext cx="164592" cy="164592"/>
          </a:xfrm>
          <a:prstGeom prst="ellipse">
            <a:avLst/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"/>
          <p:cNvCxnSpPr/>
          <p:nvPr/>
        </p:nvCxnSpPr>
        <p:spPr>
          <a:xfrm>
            <a:off x="8677656" y="4837176"/>
            <a:ext cx="1645920" cy="822960"/>
          </a:xfrm>
          <a:prstGeom prst="straightConnector1">
            <a:avLst/>
          </a:prstGeom>
          <a:noFill/>
          <a:ln cap="flat" cmpd="sng" w="25400">
            <a:solidFill>
              <a:srgbClr val="2A9D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6" name="Google Shape;96;p1"/>
          <p:cNvSpPr txBox="1"/>
          <p:nvPr/>
        </p:nvSpPr>
        <p:spPr>
          <a:xfrm>
            <a:off x="731520" y="6858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B041"/>
                </a:solidFill>
                <a:latin typeface="Arial"/>
                <a:ea typeface="Arial"/>
                <a:cs typeface="Arial"/>
                <a:sym typeface="Arial"/>
              </a:rPr>
              <a:t>PROYECTO APT · FASE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731520" y="1234440"/>
            <a:ext cx="6217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Artisa</a:t>
            </a:r>
            <a:b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Transportes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749808" y="2487168"/>
            <a:ext cx="5760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DAE4F2"/>
                </a:solidFill>
                <a:latin typeface="Arial"/>
                <a:ea typeface="Arial"/>
                <a:cs typeface="Arial"/>
                <a:sym typeface="Arial"/>
              </a:rPr>
              <a:t>Sistema híbrido para procesamiento y monitoreo de telemetría GPS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749808" y="3566160"/>
            <a:ext cx="1234440" cy="384048"/>
          </a:xfrm>
          <a:prstGeom prst="roundRect">
            <a:avLst>
              <a:gd fmla="val 16667" name="adj"/>
            </a:avLst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749808" y="3593591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ON-PREMISE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2103120" y="3566160"/>
            <a:ext cx="1051560" cy="384048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2103120" y="3593591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3273552" y="3566160"/>
            <a:ext cx="1005840" cy="384048"/>
          </a:xfrm>
          <a:prstGeom prst="roundRect">
            <a:avLst>
              <a:gd fmla="val 16667" name="adj"/>
            </a:avLst>
          </a:prstGeom>
          <a:solidFill>
            <a:srgbClr val="3A916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3273552" y="3593591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4407408" y="3566160"/>
            <a:ext cx="1143000" cy="384048"/>
          </a:xfrm>
          <a:prstGeom prst="roundRect">
            <a:avLst>
              <a:gd fmla="val 16667" name="adj"/>
            </a:avLst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407408" y="3593591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749808" y="4800600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Angelo Manque · Jonathan Valero · Alejandro Licona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Ingeniería en Informática · Sede Viña del 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749808" y="59893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4C2D7"/>
                </a:solidFill>
                <a:latin typeface="Arial"/>
                <a:ea typeface="Arial"/>
                <a:cs typeface="Arial"/>
                <a:sym typeface="Arial"/>
              </a:rPr>
              <a:t>Duoc UC · Asignatura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2A4E"/>
                </a:solidFill>
                <a:latin typeface="Play"/>
                <a:ea typeface="Play"/>
                <a:cs typeface="Play"/>
                <a:sym typeface="Play"/>
              </a:rPr>
              <a:t>Problemática y 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58368" y="93268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Transformar telemetría GPS en información útil para la operación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11155680" y="429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640080" y="6565392"/>
            <a:ext cx="10881360" cy="18288"/>
          </a:xfrm>
          <a:prstGeom prst="rect">
            <a:avLst/>
          </a:prstGeom>
          <a:solidFill>
            <a:srgbClr val="DCE4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658368" y="660196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Proyecto APT · Artisa Transportes · Ingeniería en Informática ·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685800" y="1417320"/>
            <a:ext cx="3035808" cy="231185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685799" y="1417320"/>
            <a:ext cx="155447" cy="2478024"/>
          </a:xfrm>
          <a:prstGeom prst="rect">
            <a:avLst/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886968" y="158191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Situación 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886968" y="2039112"/>
            <a:ext cx="29260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Transportes Artisa dispone de registros geoespaciales de su flota, pero el proyecto plantea automatizar su procesamiento para obtener información sobre rutas, trayectos y paradas.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4343400" y="1965960"/>
            <a:ext cx="1143000" cy="1143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4343400" y="226771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4206240" y="324612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22B"/>
                </a:solidFill>
                <a:latin typeface="Arial"/>
                <a:ea typeface="Arial"/>
                <a:cs typeface="Arial"/>
                <a:sym typeface="Arial"/>
              </a:rPr>
              <a:t>Telemetría</a:t>
            </a:r>
            <a:br>
              <a:rPr b="1" i="0" lang="en-US" sz="1200" u="none" cap="none" strike="noStrike">
                <a:solidFill>
                  <a:srgbClr val="1C22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1C222B"/>
                </a:solidFill>
                <a:latin typeface="Arial"/>
                <a:ea typeface="Arial"/>
                <a:cs typeface="Arial"/>
                <a:sym typeface="Arial"/>
              </a:rPr>
              <a:t>cruda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2"/>
          <p:cNvCxnSpPr/>
          <p:nvPr/>
        </p:nvCxnSpPr>
        <p:spPr>
          <a:xfrm>
            <a:off x="5532120" y="2542032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8" name="Google Shape;128;p2"/>
          <p:cNvSpPr/>
          <p:nvPr/>
        </p:nvSpPr>
        <p:spPr>
          <a:xfrm>
            <a:off x="6172200" y="1965960"/>
            <a:ext cx="1143000" cy="1143000"/>
          </a:xfrm>
          <a:prstGeom prst="ellipse">
            <a:avLst/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6172200" y="226771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6035040" y="324612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22B"/>
                </a:solidFill>
                <a:latin typeface="Arial"/>
                <a:ea typeface="Arial"/>
                <a:cs typeface="Arial"/>
                <a:sym typeface="Arial"/>
              </a:rPr>
              <a:t>Procesamiento</a:t>
            </a:r>
            <a:br>
              <a:rPr b="1" i="0" lang="en-US" sz="1200" u="none" cap="none" strike="noStrike">
                <a:solidFill>
                  <a:srgbClr val="1C22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1C222B"/>
                </a:solidFill>
                <a:latin typeface="Arial"/>
                <a:ea typeface="Arial"/>
                <a:cs typeface="Arial"/>
                <a:sym typeface="Arial"/>
              </a:rPr>
              <a:t>automatizado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2"/>
          <p:cNvCxnSpPr/>
          <p:nvPr/>
        </p:nvCxnSpPr>
        <p:spPr>
          <a:xfrm>
            <a:off x="7360920" y="2542032"/>
            <a:ext cx="594359" cy="0"/>
          </a:xfrm>
          <a:prstGeom prst="straightConnector1">
            <a:avLst/>
          </a:prstGeom>
          <a:noFill/>
          <a:ln cap="flat" cmpd="sng" w="254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2" name="Google Shape;132;p2"/>
          <p:cNvSpPr/>
          <p:nvPr/>
        </p:nvSpPr>
        <p:spPr>
          <a:xfrm>
            <a:off x="8001000" y="1965960"/>
            <a:ext cx="1143000" cy="1143000"/>
          </a:xfrm>
          <a:prstGeom prst="ellipse">
            <a:avLst/>
          </a:prstGeom>
          <a:solidFill>
            <a:srgbClr val="3A916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8001000" y="226771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7863840" y="324612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22B"/>
                </a:solidFill>
                <a:latin typeface="Arial"/>
                <a:ea typeface="Arial"/>
                <a:cs typeface="Arial"/>
                <a:sym typeface="Arial"/>
              </a:rPr>
              <a:t>Rutas · paradas</a:t>
            </a:r>
            <a:br>
              <a:rPr b="1" i="0" lang="en-US" sz="1200" u="none" cap="none" strike="noStrike">
                <a:solidFill>
                  <a:srgbClr val="1C22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1C222B"/>
                </a:solidFill>
                <a:latin typeface="Arial"/>
                <a:ea typeface="Arial"/>
                <a:cs typeface="Arial"/>
                <a:sym typeface="Arial"/>
              </a:rPr>
              <a:t>· métricas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2"/>
          <p:cNvCxnSpPr/>
          <p:nvPr/>
        </p:nvCxnSpPr>
        <p:spPr>
          <a:xfrm>
            <a:off x="9189720" y="2542032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6" name="Google Shape;136;p2"/>
          <p:cNvSpPr/>
          <p:nvPr/>
        </p:nvSpPr>
        <p:spPr>
          <a:xfrm>
            <a:off x="9829800" y="1965960"/>
            <a:ext cx="1143000" cy="1143000"/>
          </a:xfrm>
          <a:prstGeom prst="ellipse">
            <a:avLst/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9829800" y="226771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9692640" y="324612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22B"/>
                </a:solidFill>
                <a:latin typeface="Arial"/>
                <a:ea typeface="Arial"/>
                <a:cs typeface="Arial"/>
                <a:sym typeface="Arial"/>
              </a:rPr>
              <a:t>Monitoreo</a:t>
            </a:r>
            <a:br>
              <a:rPr b="1" i="0" lang="en-US" sz="1200" u="none" cap="none" strike="noStrike">
                <a:solidFill>
                  <a:srgbClr val="1C22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1C222B"/>
                </a:solidFill>
                <a:latin typeface="Arial"/>
                <a:ea typeface="Arial"/>
                <a:cs typeface="Arial"/>
                <a:sym typeface="Arial"/>
              </a:rPr>
              <a:t>visual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4343400" y="4663440"/>
            <a:ext cx="6492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Aporte esperado: reducir procesamiento manual y facilitar la visualización de rutas y métricas de la flota.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2A4E"/>
                </a:solidFill>
                <a:latin typeface="Play"/>
                <a:ea typeface="Play"/>
                <a:cs typeface="Play"/>
                <a:sym typeface="Play"/>
              </a:rPr>
              <a:t>Solución propuesta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658368" y="93268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Arquitectura híbrida: nube + procesamiento On-Premise + plataforma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11155680" y="429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40080" y="6565392"/>
            <a:ext cx="10881360" cy="18288"/>
          </a:xfrm>
          <a:prstGeom prst="rect">
            <a:avLst/>
          </a:prstGeom>
          <a:solidFill>
            <a:srgbClr val="DCE4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658368" y="660196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Proyecto APT · Artisa Transportes · Ingeniería en Informática ·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822960" y="132588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Construir una solución automatizada que extraiga telemetría geoespacial desde la nube, la procese localmente y publique los resultados en una plataforma web de monitoreo.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85800" y="2743200"/>
            <a:ext cx="16002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1207007" y="2971800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777240" y="3675887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777240" y="4224528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Procesamiento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2560320" y="2743200"/>
            <a:ext cx="16002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3081527" y="2971800"/>
            <a:ext cx="566928" cy="566928"/>
          </a:xfrm>
          <a:prstGeom prst="ellipse">
            <a:avLst/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2651760" y="3675887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b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+ PostGIS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2651760" y="4224528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Datos geoespaciales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4434840" y="2743200"/>
            <a:ext cx="16002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4956048" y="2971800"/>
            <a:ext cx="566928" cy="566928"/>
          </a:xfrm>
          <a:prstGeom prst="ellipse">
            <a:avLst/>
          </a:prstGeom>
          <a:solidFill>
            <a:srgbClr val="3A916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4526279" y="3675887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Machine</a:t>
            </a:r>
            <a:b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4526279" y="4224528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Inferencia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6309359" y="2743200"/>
            <a:ext cx="16002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6830568" y="2971800"/>
            <a:ext cx="566928" cy="566928"/>
          </a:xfrm>
          <a:prstGeom prst="ellipse">
            <a:avLst/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6400799" y="3675887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REST / gRPC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6400799" y="4224528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8183879" y="2743200"/>
            <a:ext cx="16002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8705088" y="2971800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8275319" y="3675887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8275319" y="4224528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Despliegue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10058400" y="2743200"/>
            <a:ext cx="16002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10579608" y="2971800"/>
            <a:ext cx="566928" cy="566928"/>
          </a:xfrm>
          <a:prstGeom prst="ellipse">
            <a:avLst/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10149840" y="3675887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10149840" y="4224528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Visualización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2A4E"/>
                </a:solidFill>
                <a:latin typeface="Play"/>
                <a:ea typeface="Play"/>
                <a:cs typeface="Play"/>
                <a:sym typeface="Play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658368" y="93268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Flujo propuesto de datos desde la nube hasta el 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11155680" y="429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640080" y="6565392"/>
            <a:ext cx="10881360" cy="18288"/>
          </a:xfrm>
          <a:prstGeom prst="rect">
            <a:avLst/>
          </a:prstGeom>
          <a:solidFill>
            <a:srgbClr val="DCE4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658368" y="660196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Proyecto APT · Artisa Transportes · Ingeniería en Informática ·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548640" y="1325880"/>
            <a:ext cx="210312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640080" y="1508760"/>
            <a:ext cx="19202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NUBE / ORIGEN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2880360" y="1325880"/>
            <a:ext cx="457200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A9D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2971800" y="15087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A9DB7"/>
                </a:solidFill>
                <a:latin typeface="Arial"/>
                <a:ea typeface="Arial"/>
                <a:cs typeface="Arial"/>
                <a:sym typeface="Arial"/>
              </a:rPr>
              <a:t>ON-PREMISE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7726679" y="1325880"/>
            <a:ext cx="388620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5B04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7818119" y="150876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B041"/>
                </a:solidFill>
                <a:latin typeface="Arial"/>
                <a:ea typeface="Arial"/>
                <a:cs typeface="Arial"/>
                <a:sym typeface="Arial"/>
              </a:rPr>
              <a:t>NUBE /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868680" y="2331720"/>
            <a:ext cx="1463040" cy="82296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868680" y="2450591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Telemetría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3200400" y="1920240"/>
            <a:ext cx="1508760" cy="777240"/>
          </a:xfrm>
          <a:prstGeom prst="roundRect">
            <a:avLst>
              <a:gd fmla="val 16667" name="adj"/>
            </a:avLst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3200400" y="2039112"/>
            <a:ext cx="1508760" cy="594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ETL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5349240" y="1920240"/>
            <a:ext cx="1600200" cy="777240"/>
          </a:xfrm>
          <a:prstGeom prst="roundRect">
            <a:avLst>
              <a:gd fmla="val 16667" name="adj"/>
            </a:avLst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5349240" y="2039112"/>
            <a:ext cx="1600200" cy="594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PostGIS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4160520" y="3703320"/>
            <a:ext cx="1920240" cy="868680"/>
          </a:xfrm>
          <a:prstGeom prst="roundRect">
            <a:avLst>
              <a:gd fmla="val 16667" name="adj"/>
            </a:avLst>
          </a:prstGeom>
          <a:solidFill>
            <a:srgbClr val="3A916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4160520" y="3822191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Procesamiento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6080760" y="4800600"/>
            <a:ext cx="1051560" cy="6858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6080760" y="4919472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8092440" y="2011680"/>
            <a:ext cx="1508760" cy="777240"/>
          </a:xfrm>
          <a:prstGeom prst="roundRect">
            <a:avLst>
              <a:gd fmla="val 16667" name="adj"/>
            </a:avLst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8092440" y="2130552"/>
            <a:ext cx="1508760" cy="594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Nube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9738360" y="3246120"/>
            <a:ext cx="1417320" cy="77724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9738360" y="3364991"/>
            <a:ext cx="1417320" cy="594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8092440" y="4572000"/>
            <a:ext cx="1508760" cy="777240"/>
          </a:xfrm>
          <a:prstGeom prst="roundRect">
            <a:avLst>
              <a:gd fmla="val 16667" name="adj"/>
            </a:avLst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8092440" y="4690872"/>
            <a:ext cx="1508760" cy="594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9829800" y="4572000"/>
            <a:ext cx="1417320" cy="777240"/>
          </a:xfrm>
          <a:prstGeom prst="roundRect">
            <a:avLst>
              <a:gd fmla="val 16667" name="adj"/>
            </a:avLst>
          </a:prstGeom>
          <a:solidFill>
            <a:srgbClr val="3A916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9829800" y="4690872"/>
            <a:ext cx="1417320" cy="594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4"/>
          <p:cNvCxnSpPr/>
          <p:nvPr/>
        </p:nvCxnSpPr>
        <p:spPr>
          <a:xfrm flipH="1" rot="10800000">
            <a:off x="2331720" y="2313432"/>
            <a:ext cx="868680" cy="429768"/>
          </a:xfrm>
          <a:prstGeom prst="straightConnector1">
            <a:avLst/>
          </a:prstGeom>
          <a:noFill/>
          <a:ln cap="flat" cmpd="sng" w="20300">
            <a:solidFill>
              <a:srgbClr val="5C67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2" name="Google Shape;212;p4"/>
          <p:cNvCxnSpPr/>
          <p:nvPr/>
        </p:nvCxnSpPr>
        <p:spPr>
          <a:xfrm>
            <a:off x="4709160" y="2313432"/>
            <a:ext cx="640080" cy="0"/>
          </a:xfrm>
          <a:prstGeom prst="straightConnector1">
            <a:avLst/>
          </a:prstGeom>
          <a:noFill/>
          <a:ln cap="flat" cmpd="sng" w="20300">
            <a:solidFill>
              <a:srgbClr val="5C67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3" name="Google Shape;213;p4"/>
          <p:cNvCxnSpPr/>
          <p:nvPr/>
        </p:nvCxnSpPr>
        <p:spPr>
          <a:xfrm flipH="1">
            <a:off x="5120640" y="2697480"/>
            <a:ext cx="1024128" cy="1005840"/>
          </a:xfrm>
          <a:prstGeom prst="straightConnector1">
            <a:avLst/>
          </a:prstGeom>
          <a:noFill/>
          <a:ln cap="flat" cmpd="sng" w="20300">
            <a:solidFill>
              <a:srgbClr val="5C67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4" name="Google Shape;214;p4"/>
          <p:cNvCxnSpPr/>
          <p:nvPr/>
        </p:nvCxnSpPr>
        <p:spPr>
          <a:xfrm>
            <a:off x="6080760" y="4142232"/>
            <a:ext cx="502920" cy="658368"/>
          </a:xfrm>
          <a:prstGeom prst="straightConnector1">
            <a:avLst/>
          </a:prstGeom>
          <a:noFill/>
          <a:ln cap="flat" cmpd="sng" w="20300">
            <a:solidFill>
              <a:srgbClr val="5C67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5" name="Google Shape;215;p4"/>
          <p:cNvCxnSpPr/>
          <p:nvPr/>
        </p:nvCxnSpPr>
        <p:spPr>
          <a:xfrm flipH="1" rot="10800000">
            <a:off x="7132320" y="2395728"/>
            <a:ext cx="960120" cy="2743200"/>
          </a:xfrm>
          <a:prstGeom prst="straightConnector1">
            <a:avLst/>
          </a:prstGeom>
          <a:noFill/>
          <a:ln cap="flat" cmpd="sng" w="20300">
            <a:solidFill>
              <a:srgbClr val="5C67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6" name="Google Shape;216;p4"/>
          <p:cNvCxnSpPr/>
          <p:nvPr/>
        </p:nvCxnSpPr>
        <p:spPr>
          <a:xfrm>
            <a:off x="9601200" y="2395728"/>
            <a:ext cx="841248" cy="850392"/>
          </a:xfrm>
          <a:prstGeom prst="straightConnector1">
            <a:avLst/>
          </a:prstGeom>
          <a:noFill/>
          <a:ln cap="flat" cmpd="sng" w="20300">
            <a:solidFill>
              <a:srgbClr val="5C67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7" name="Google Shape;217;p4"/>
          <p:cNvCxnSpPr/>
          <p:nvPr/>
        </p:nvCxnSpPr>
        <p:spPr>
          <a:xfrm flipH="1">
            <a:off x="8842248" y="4023360"/>
            <a:ext cx="1600200" cy="548640"/>
          </a:xfrm>
          <a:prstGeom prst="straightConnector1">
            <a:avLst/>
          </a:prstGeom>
          <a:noFill/>
          <a:ln cap="flat" cmpd="sng" w="20300">
            <a:solidFill>
              <a:srgbClr val="5C67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8" name="Google Shape;218;p4"/>
          <p:cNvCxnSpPr/>
          <p:nvPr/>
        </p:nvCxnSpPr>
        <p:spPr>
          <a:xfrm>
            <a:off x="9601200" y="4956048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5C67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2A4E"/>
                </a:solidFill>
                <a:latin typeface="Play"/>
                <a:ea typeface="Play"/>
                <a:cs typeface="Play"/>
                <a:sym typeface="Play"/>
              </a:rPr>
              <a:t>Objetivos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658368" y="93268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Qué busca construir y demostrar el equipo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11155680" y="429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640080" y="6565392"/>
            <a:ext cx="10881360" cy="18288"/>
          </a:xfrm>
          <a:prstGeom prst="rect">
            <a:avLst/>
          </a:prstGeom>
          <a:solidFill>
            <a:srgbClr val="DCE4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658368" y="660196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Proyecto APT · Artisa Transportes · Ingeniería en Informática ·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685800" y="1325880"/>
            <a:ext cx="1083564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886968" y="1490472"/>
            <a:ext cx="10469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"/>
          <p:cNvSpPr txBox="1"/>
          <p:nvPr/>
        </p:nvSpPr>
        <p:spPr>
          <a:xfrm>
            <a:off x="886968" y="1947672"/>
            <a:ext cx="10469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Construir una solución híbrida automatizada para procesar telemetría GPS, inferir rutas mediante Machine Learning y publicar los resultados en una plataforma web de monitoreo para Transportes Artisa.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685800" y="2880360"/>
            <a:ext cx="2468880" cy="2423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685800" y="2880360"/>
            <a:ext cx="73152" cy="242316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886968" y="304495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886968" y="3502152"/>
            <a:ext cx="2103120" cy="1645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ETL + PostgreSQL/PostGIS</a:t>
            </a:r>
            <a:b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Extraer, transformar, almacenar y consultar telemetría geoespacial.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3429000" y="2880360"/>
            <a:ext cx="2468880" cy="2423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3429000" y="2880360"/>
            <a:ext cx="73152" cy="2423160"/>
          </a:xfrm>
          <a:prstGeom prst="rect">
            <a:avLst/>
          </a:prstGeom>
          <a:solidFill>
            <a:srgbClr val="3A916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3630168" y="304495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INTELIGENCIA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 txBox="1"/>
          <p:nvPr/>
        </p:nvSpPr>
        <p:spPr>
          <a:xfrm>
            <a:off x="3630168" y="3502152"/>
            <a:ext cx="2103120" cy="1645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b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Inferir trayectorias, realizar map matching y detectar paradas.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6172200" y="2880360"/>
            <a:ext cx="2468880" cy="2423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6172200" y="2880360"/>
            <a:ext cx="73152" cy="2423160"/>
          </a:xfrm>
          <a:prstGeom prst="rect">
            <a:avLst/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6373368" y="304495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6373368" y="3502152"/>
            <a:ext cx="2103120" cy="1645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APIs</a:t>
            </a:r>
            <a:b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Comunicar de forma segura el entorno On-Premise con la nube.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8915400" y="2880360"/>
            <a:ext cx="2468880" cy="2423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8915400" y="2880360"/>
            <a:ext cx="73152" cy="2423160"/>
          </a:xfrm>
          <a:prstGeom prst="rect">
            <a:avLst/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 txBox="1"/>
          <p:nvPr/>
        </p:nvSpPr>
        <p:spPr>
          <a:xfrm>
            <a:off x="9116568" y="304495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VISUALIZACIÓN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"/>
          <p:cNvSpPr txBox="1"/>
          <p:nvPr/>
        </p:nvSpPr>
        <p:spPr>
          <a:xfrm>
            <a:off x="9116568" y="3502152"/>
            <a:ext cx="2103120" cy="1645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Dashboard web</a:t>
            </a:r>
            <a:b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Desarrollar backend y frontend para visualizar rutas y métricas.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2A4E"/>
                </a:solidFill>
                <a:latin typeface="Play"/>
                <a:ea typeface="Play"/>
                <a:cs typeface="Play"/>
                <a:sym typeface="Play"/>
              </a:rPr>
              <a:t>Metodología de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"/>
          <p:cNvSpPr txBox="1"/>
          <p:nvPr/>
        </p:nvSpPr>
        <p:spPr>
          <a:xfrm>
            <a:off x="658368" y="93268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Desarrollo incremental por módulos y pruebas progresivas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11155680" y="429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640080" y="6565392"/>
            <a:ext cx="10881360" cy="18288"/>
          </a:xfrm>
          <a:prstGeom prst="rect">
            <a:avLst/>
          </a:prstGeom>
          <a:solidFill>
            <a:srgbClr val="DCE4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658368" y="660196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Proyecto APT · Artisa Transportes · Ingeniería en Informática ·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1097280" y="1920240"/>
            <a:ext cx="685800" cy="685800"/>
          </a:xfrm>
          <a:prstGeom prst="ellipse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1097280" y="210312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 txBox="1"/>
          <p:nvPr/>
        </p:nvSpPr>
        <p:spPr>
          <a:xfrm>
            <a:off x="594360" y="2788920"/>
            <a:ext cx="1691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Requisitos y</a:t>
            </a:r>
            <a:b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6"/>
          <p:cNvCxnSpPr/>
          <p:nvPr/>
        </p:nvCxnSpPr>
        <p:spPr>
          <a:xfrm>
            <a:off x="1828800" y="2267712"/>
            <a:ext cx="1124712" cy="0"/>
          </a:xfrm>
          <a:prstGeom prst="straightConnector1">
            <a:avLst/>
          </a:prstGeom>
          <a:noFill/>
          <a:ln cap="flat" cmpd="sng" w="254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5" name="Google Shape;265;p6"/>
          <p:cNvSpPr/>
          <p:nvPr/>
        </p:nvSpPr>
        <p:spPr>
          <a:xfrm>
            <a:off x="2971800" y="1920240"/>
            <a:ext cx="685800" cy="685800"/>
          </a:xfrm>
          <a:prstGeom prst="ellipse">
            <a:avLst/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2971800" y="210312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2468879" y="2788920"/>
            <a:ext cx="1691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ETL y</a:t>
            </a:r>
            <a:b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6"/>
          <p:cNvCxnSpPr/>
          <p:nvPr/>
        </p:nvCxnSpPr>
        <p:spPr>
          <a:xfrm>
            <a:off x="3703320" y="2267712"/>
            <a:ext cx="1124711" cy="0"/>
          </a:xfrm>
          <a:prstGeom prst="straightConnector1">
            <a:avLst/>
          </a:prstGeom>
          <a:noFill/>
          <a:ln cap="flat" cmpd="sng" w="254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9" name="Google Shape;269;p6"/>
          <p:cNvSpPr/>
          <p:nvPr/>
        </p:nvSpPr>
        <p:spPr>
          <a:xfrm>
            <a:off x="4846320" y="1920240"/>
            <a:ext cx="685800" cy="685800"/>
          </a:xfrm>
          <a:prstGeom prst="ellipse">
            <a:avLst/>
          </a:prstGeom>
          <a:solidFill>
            <a:srgbClr val="3A916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4846320" y="210312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 txBox="1"/>
          <p:nvPr/>
        </p:nvSpPr>
        <p:spPr>
          <a:xfrm>
            <a:off x="4343400" y="2788920"/>
            <a:ext cx="1691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Procesamiento</a:t>
            </a:r>
            <a:b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+ 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6"/>
          <p:cNvCxnSpPr/>
          <p:nvPr/>
        </p:nvCxnSpPr>
        <p:spPr>
          <a:xfrm>
            <a:off x="5577840" y="2267712"/>
            <a:ext cx="1124712" cy="0"/>
          </a:xfrm>
          <a:prstGeom prst="straightConnector1">
            <a:avLst/>
          </a:prstGeom>
          <a:noFill/>
          <a:ln cap="flat" cmpd="sng" w="254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3" name="Google Shape;273;p6"/>
          <p:cNvSpPr/>
          <p:nvPr/>
        </p:nvSpPr>
        <p:spPr>
          <a:xfrm>
            <a:off x="6720840" y="1920240"/>
            <a:ext cx="685800" cy="685800"/>
          </a:xfrm>
          <a:prstGeom prst="ellipse">
            <a:avLst/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6720840" y="210312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 txBox="1"/>
          <p:nvPr/>
        </p:nvSpPr>
        <p:spPr>
          <a:xfrm>
            <a:off x="6217920" y="2788920"/>
            <a:ext cx="1691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APIs e</a:t>
            </a:r>
            <a:b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6"/>
          <p:cNvCxnSpPr/>
          <p:nvPr/>
        </p:nvCxnSpPr>
        <p:spPr>
          <a:xfrm>
            <a:off x="7452360" y="2267712"/>
            <a:ext cx="1124712" cy="0"/>
          </a:xfrm>
          <a:prstGeom prst="straightConnector1">
            <a:avLst/>
          </a:prstGeom>
          <a:noFill/>
          <a:ln cap="flat" cmpd="sng" w="254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7" name="Google Shape;277;p6"/>
          <p:cNvSpPr/>
          <p:nvPr/>
        </p:nvSpPr>
        <p:spPr>
          <a:xfrm>
            <a:off x="8595360" y="1920240"/>
            <a:ext cx="685800" cy="685800"/>
          </a:xfrm>
          <a:prstGeom prst="ellipse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8595360" y="210312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6"/>
          <p:cNvSpPr txBox="1"/>
          <p:nvPr/>
        </p:nvSpPr>
        <p:spPr>
          <a:xfrm>
            <a:off x="8092440" y="2788920"/>
            <a:ext cx="1691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Plataforma</a:t>
            </a:r>
            <a:b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6"/>
          <p:cNvCxnSpPr/>
          <p:nvPr/>
        </p:nvCxnSpPr>
        <p:spPr>
          <a:xfrm>
            <a:off x="9326880" y="2267712"/>
            <a:ext cx="1124712" cy="0"/>
          </a:xfrm>
          <a:prstGeom prst="straightConnector1">
            <a:avLst/>
          </a:prstGeom>
          <a:noFill/>
          <a:ln cap="flat" cmpd="sng" w="254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1" name="Google Shape;281;p6"/>
          <p:cNvSpPr/>
          <p:nvPr/>
        </p:nvSpPr>
        <p:spPr>
          <a:xfrm>
            <a:off x="10469880" y="1920240"/>
            <a:ext cx="685800" cy="685800"/>
          </a:xfrm>
          <a:prstGeom prst="ellipse">
            <a:avLst/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 txBox="1"/>
          <p:nvPr/>
        </p:nvSpPr>
        <p:spPr>
          <a:xfrm>
            <a:off x="10469880" y="210312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6"/>
          <p:cNvSpPr txBox="1"/>
          <p:nvPr/>
        </p:nvSpPr>
        <p:spPr>
          <a:xfrm>
            <a:off x="9966960" y="2788920"/>
            <a:ext cx="1691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Pruebas y</a:t>
            </a:r>
            <a:b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documentación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6"/>
          <p:cNvSpPr txBox="1"/>
          <p:nvPr/>
        </p:nvSpPr>
        <p:spPr>
          <a:xfrm>
            <a:off x="1143000" y="466344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Cada módulo se implementa y valida progresivamente antes de avanzar a la integración completa.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2A4E"/>
                </a:solidFill>
                <a:latin typeface="Play"/>
                <a:ea typeface="Play"/>
                <a:cs typeface="Play"/>
                <a:sym typeface="Play"/>
              </a:rPr>
              <a:t>Equipo y responsabilidades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658368" y="93268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Distribución propuesta en la Fase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11155680" y="429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640080" y="6565392"/>
            <a:ext cx="10881360" cy="18288"/>
          </a:xfrm>
          <a:prstGeom prst="rect">
            <a:avLst/>
          </a:prstGeom>
          <a:solidFill>
            <a:srgbClr val="DCE4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658368" y="660196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Proyecto APT · Artisa Transportes · Ingeniería en Informática ·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731520" y="1600200"/>
            <a:ext cx="3337560" cy="3566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1965960" y="1874519"/>
            <a:ext cx="868680" cy="868680"/>
          </a:xfrm>
          <a:prstGeom prst="ellipse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 txBox="1"/>
          <p:nvPr/>
        </p:nvSpPr>
        <p:spPr>
          <a:xfrm>
            <a:off x="1005840" y="297180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ANGELO MANQUE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1005840" y="345643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ETL · Bases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 txBox="1"/>
          <p:nvPr/>
        </p:nvSpPr>
        <p:spPr>
          <a:xfrm>
            <a:off x="1078992" y="402336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Coordinación de integración, extracción, transformación y almacenamiento geoespacial.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4526280" y="1600200"/>
            <a:ext cx="3337560" cy="3566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5760720" y="1874519"/>
            <a:ext cx="868680" cy="868680"/>
          </a:xfrm>
          <a:prstGeom prst="ellipse">
            <a:avLst/>
          </a:prstGeom>
          <a:solidFill>
            <a:srgbClr val="3A916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4800600" y="297180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JONATHAN VALERO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4800600" y="345643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916A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4873752" y="402336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Procesamiento geoespacial, inferencia de rutas, map matching y detección de paradas.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8321040" y="1600200"/>
            <a:ext cx="3337560" cy="3566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9555480" y="1874519"/>
            <a:ext cx="868680" cy="868680"/>
          </a:xfrm>
          <a:prstGeom prst="ellipse">
            <a:avLst/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 txBox="1"/>
          <p:nvPr/>
        </p:nvSpPr>
        <p:spPr>
          <a:xfrm>
            <a:off x="8595360" y="297180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ALEJANDRO LICONA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 txBox="1"/>
          <p:nvPr/>
        </p:nvSpPr>
        <p:spPr>
          <a:xfrm>
            <a:off x="8595360" y="345643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A9DB7"/>
                </a:solidFill>
                <a:latin typeface="Arial"/>
                <a:ea typeface="Arial"/>
                <a:cs typeface="Arial"/>
                <a:sym typeface="Arial"/>
              </a:rPr>
              <a:t>APIs · Backend · 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8668512" y="402336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Integración de servicios y desarrollo de la plataforma web de monitoreo.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 txBox="1"/>
          <p:nvPr/>
        </p:nvSpPr>
        <p:spPr>
          <a:xfrm>
            <a:off x="1828800" y="566928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Trabajo conjunto: arquitectura · integración · pruebas · documentación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2A4E"/>
                </a:solidFill>
                <a:latin typeface="Play"/>
                <a:ea typeface="Play"/>
                <a:cs typeface="Play"/>
                <a:sym typeface="Play"/>
              </a:rPr>
              <a:t>Evidencias y entregables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658368" y="932688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Cómo se demostrará el avance y el resultado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8"/>
          <p:cNvSpPr txBox="1"/>
          <p:nvPr/>
        </p:nvSpPr>
        <p:spPr>
          <a:xfrm>
            <a:off x="11155680" y="429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640080" y="6565392"/>
            <a:ext cx="10881360" cy="18288"/>
          </a:xfrm>
          <a:prstGeom prst="rect">
            <a:avLst/>
          </a:prstGeom>
          <a:solidFill>
            <a:srgbClr val="DCE4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658368" y="660196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Proyecto APT · Artisa Transportes · Ingeniería en Informática ·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694963" y="1298400"/>
            <a:ext cx="5166300" cy="2315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694963" y="1298400"/>
            <a:ext cx="136500" cy="23685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 txBox="1"/>
          <p:nvPr/>
        </p:nvSpPr>
        <p:spPr>
          <a:xfrm>
            <a:off x="877818" y="1426412"/>
            <a:ext cx="480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EVIDENCIAS DE AVANCE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 txBox="1"/>
          <p:nvPr/>
        </p:nvSpPr>
        <p:spPr>
          <a:xfrm>
            <a:off x="914438" y="1837268"/>
            <a:ext cx="4800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• Diseño de arquitectura y planificación</a:t>
            </a:r>
            <a:b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• Pipeline ETL y scripts de orquestación</a:t>
            </a:r>
            <a:b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• PostgreSQL/PostGIS con datos de prueba</a:t>
            </a:r>
            <a:b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Objetivo: comprobar que la solución fue analizada, estructurada y que la telemetría puede ser procesada localmente.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713288" y="3785823"/>
            <a:ext cx="5166300" cy="261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694970" y="3785823"/>
            <a:ext cx="136500" cy="2618400"/>
          </a:xfrm>
          <a:prstGeom prst="rect">
            <a:avLst/>
          </a:prstGeom>
          <a:solidFill>
            <a:srgbClr val="3A916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 txBox="1"/>
          <p:nvPr/>
        </p:nvSpPr>
        <p:spPr>
          <a:xfrm>
            <a:off x="914445" y="3950412"/>
            <a:ext cx="480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EVIDENCIAS FINALES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 txBox="1"/>
          <p:nvPr/>
        </p:nvSpPr>
        <p:spPr>
          <a:xfrm>
            <a:off x="914438" y="4407606"/>
            <a:ext cx="48006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• Modelo de Machine Learning e inferencia</a:t>
            </a:r>
            <a:b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• API + backend + frontend React</a:t>
            </a:r>
            <a:b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• Dashboards de rutas y métricas</a:t>
            </a:r>
            <a:b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• Docker / Docker Compose</a:t>
            </a:r>
            <a:b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• Pruebas y documentación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5650" y="1620775"/>
            <a:ext cx="4158325" cy="4158325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2A4E"/>
                </a:solidFill>
                <a:latin typeface="Play"/>
                <a:ea typeface="Play"/>
                <a:cs typeface="Play"/>
                <a:sym typeface="Play"/>
              </a:rPr>
              <a:t>Planificación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 txBox="1"/>
          <p:nvPr/>
        </p:nvSpPr>
        <p:spPr>
          <a:xfrm>
            <a:off x="658368" y="93268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Carta Gantt resumida · 18 semanas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 txBox="1"/>
          <p:nvPr/>
        </p:nvSpPr>
        <p:spPr>
          <a:xfrm>
            <a:off x="11155680" y="429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640080" y="6565392"/>
            <a:ext cx="10881360" cy="18288"/>
          </a:xfrm>
          <a:prstGeom prst="rect">
            <a:avLst/>
          </a:prstGeom>
          <a:solidFill>
            <a:srgbClr val="DCE4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 txBox="1"/>
          <p:nvPr/>
        </p:nvSpPr>
        <p:spPr>
          <a:xfrm>
            <a:off x="658368" y="660196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Proyecto APT · Artisa Transportes · Ingeniería en Informática ·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 txBox="1"/>
          <p:nvPr/>
        </p:nvSpPr>
        <p:spPr>
          <a:xfrm>
            <a:off x="2423160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9"/>
          <p:cNvSpPr txBox="1"/>
          <p:nvPr/>
        </p:nvSpPr>
        <p:spPr>
          <a:xfrm>
            <a:off x="2907791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9"/>
          <p:cNvSpPr txBox="1"/>
          <p:nvPr/>
        </p:nvSpPr>
        <p:spPr>
          <a:xfrm>
            <a:off x="3392424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9"/>
          <p:cNvSpPr txBox="1"/>
          <p:nvPr/>
        </p:nvSpPr>
        <p:spPr>
          <a:xfrm>
            <a:off x="3877056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9"/>
          <p:cNvSpPr txBox="1"/>
          <p:nvPr/>
        </p:nvSpPr>
        <p:spPr>
          <a:xfrm>
            <a:off x="4361688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 txBox="1"/>
          <p:nvPr/>
        </p:nvSpPr>
        <p:spPr>
          <a:xfrm>
            <a:off x="4846320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9"/>
          <p:cNvSpPr txBox="1"/>
          <p:nvPr/>
        </p:nvSpPr>
        <p:spPr>
          <a:xfrm>
            <a:off x="5330952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9"/>
          <p:cNvSpPr txBox="1"/>
          <p:nvPr/>
        </p:nvSpPr>
        <p:spPr>
          <a:xfrm>
            <a:off x="5815583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9"/>
          <p:cNvSpPr txBox="1"/>
          <p:nvPr/>
        </p:nvSpPr>
        <p:spPr>
          <a:xfrm>
            <a:off x="6300216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"/>
          <p:cNvSpPr txBox="1"/>
          <p:nvPr/>
        </p:nvSpPr>
        <p:spPr>
          <a:xfrm>
            <a:off x="6784848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9"/>
          <p:cNvSpPr txBox="1"/>
          <p:nvPr/>
        </p:nvSpPr>
        <p:spPr>
          <a:xfrm>
            <a:off x="7269480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9"/>
          <p:cNvSpPr txBox="1"/>
          <p:nvPr/>
        </p:nvSpPr>
        <p:spPr>
          <a:xfrm>
            <a:off x="7754112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9"/>
          <p:cNvSpPr txBox="1"/>
          <p:nvPr/>
        </p:nvSpPr>
        <p:spPr>
          <a:xfrm>
            <a:off x="8238744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9"/>
          <p:cNvSpPr txBox="1"/>
          <p:nvPr/>
        </p:nvSpPr>
        <p:spPr>
          <a:xfrm>
            <a:off x="8723376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"/>
          <p:cNvSpPr txBox="1"/>
          <p:nvPr/>
        </p:nvSpPr>
        <p:spPr>
          <a:xfrm>
            <a:off x="9208008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9"/>
          <p:cNvSpPr txBox="1"/>
          <p:nvPr/>
        </p:nvSpPr>
        <p:spPr>
          <a:xfrm>
            <a:off x="9692640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9"/>
          <p:cNvSpPr txBox="1"/>
          <p:nvPr/>
        </p:nvSpPr>
        <p:spPr>
          <a:xfrm>
            <a:off x="10177272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9"/>
          <p:cNvSpPr txBox="1"/>
          <p:nvPr/>
        </p:nvSpPr>
        <p:spPr>
          <a:xfrm>
            <a:off x="10661904" y="1298448"/>
            <a:ext cx="484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C6773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9"/>
          <p:cNvSpPr txBox="1"/>
          <p:nvPr/>
        </p:nvSpPr>
        <p:spPr>
          <a:xfrm>
            <a:off x="658368" y="167335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Análisis y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2423160" y="1600200"/>
            <a:ext cx="470916" cy="384048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2907791" y="1600200"/>
            <a:ext cx="470916" cy="384048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3392424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3877056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4361688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4846320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5330952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5815583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6300216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6784848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7269480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7754112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8238744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8723376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9208008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9692640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10177272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10661904" y="160020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 txBox="1"/>
          <p:nvPr/>
        </p:nvSpPr>
        <p:spPr>
          <a:xfrm>
            <a:off x="658368" y="218541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ETL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2423160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2907791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3392424" y="2112264"/>
            <a:ext cx="470916" cy="384048"/>
          </a:xfrm>
          <a:prstGeom prst="rect">
            <a:avLst/>
          </a:prstGeom>
          <a:solidFill>
            <a:srgbClr val="2A9DB7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3877056" y="2112264"/>
            <a:ext cx="470916" cy="384048"/>
          </a:xfrm>
          <a:prstGeom prst="rect">
            <a:avLst/>
          </a:prstGeom>
          <a:solidFill>
            <a:srgbClr val="2A9DB7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361688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846320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5330952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5815583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6300216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6784848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7269480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7754112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8238744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8723376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9208008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9692640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10177272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10661904" y="211226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 txBox="1"/>
          <p:nvPr/>
        </p:nvSpPr>
        <p:spPr>
          <a:xfrm>
            <a:off x="658368" y="269748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2423160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2907791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3392424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4361688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5330952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5815583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6300216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6784848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7269480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7754112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8238744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8723376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9208008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9692640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10177272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10661904" y="262432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 txBox="1"/>
          <p:nvPr/>
        </p:nvSpPr>
        <p:spPr>
          <a:xfrm>
            <a:off x="658368" y="320954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2423160" y="3136392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2907791" y="3136392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3392424" y="3136392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3877056" y="3136392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5330952" y="3136392"/>
            <a:ext cx="470916" cy="384048"/>
          </a:xfrm>
          <a:prstGeom prst="rect">
            <a:avLst/>
          </a:prstGeom>
          <a:solidFill>
            <a:srgbClr val="3A916A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5815583" y="3136392"/>
            <a:ext cx="470916" cy="384048"/>
          </a:xfrm>
          <a:prstGeom prst="rect">
            <a:avLst/>
          </a:prstGeom>
          <a:solidFill>
            <a:srgbClr val="3A916A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7269480" y="3136392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7754112" y="3136392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8238744" y="3136392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8723376" y="3136392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9208008" y="3136392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9692640" y="3136392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10177272" y="3136392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10661904" y="3136392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 txBox="1"/>
          <p:nvPr/>
        </p:nvSpPr>
        <p:spPr>
          <a:xfrm>
            <a:off x="658368" y="372160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APIs e integración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9"/>
          <p:cNvSpPr/>
          <p:nvPr/>
        </p:nvSpPr>
        <p:spPr>
          <a:xfrm>
            <a:off x="2423160" y="3648456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2907791" y="3648456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3392424" y="3648456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3877056" y="3648456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4361688" y="3648456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4846320" y="3648456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5330952" y="3648456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5815583" y="3648456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9"/>
          <p:cNvSpPr/>
          <p:nvPr/>
        </p:nvSpPr>
        <p:spPr>
          <a:xfrm>
            <a:off x="6300216" y="3648456"/>
            <a:ext cx="470916" cy="384048"/>
          </a:xfrm>
          <a:prstGeom prst="rect">
            <a:avLst/>
          </a:prstGeom>
          <a:solidFill>
            <a:srgbClr val="F5B041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7269480" y="3648456"/>
            <a:ext cx="470916" cy="384048"/>
          </a:xfrm>
          <a:prstGeom prst="rect">
            <a:avLst/>
          </a:prstGeom>
          <a:solidFill>
            <a:srgbClr val="F5B041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9"/>
          <p:cNvSpPr/>
          <p:nvPr/>
        </p:nvSpPr>
        <p:spPr>
          <a:xfrm>
            <a:off x="8238744" y="3648456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9"/>
          <p:cNvSpPr/>
          <p:nvPr/>
        </p:nvSpPr>
        <p:spPr>
          <a:xfrm>
            <a:off x="8723376" y="3648456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9"/>
          <p:cNvSpPr/>
          <p:nvPr/>
        </p:nvSpPr>
        <p:spPr>
          <a:xfrm>
            <a:off x="9208008" y="3648456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9"/>
          <p:cNvSpPr/>
          <p:nvPr/>
        </p:nvSpPr>
        <p:spPr>
          <a:xfrm>
            <a:off x="9692640" y="3648456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9"/>
          <p:cNvSpPr/>
          <p:nvPr/>
        </p:nvSpPr>
        <p:spPr>
          <a:xfrm>
            <a:off x="10177272" y="3648456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10661904" y="3648456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9"/>
          <p:cNvSpPr txBox="1"/>
          <p:nvPr/>
        </p:nvSpPr>
        <p:spPr>
          <a:xfrm>
            <a:off x="658368" y="423367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Dashboard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9"/>
          <p:cNvSpPr/>
          <p:nvPr/>
        </p:nvSpPr>
        <p:spPr>
          <a:xfrm>
            <a:off x="2423160" y="416052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2907791" y="416052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9"/>
          <p:cNvSpPr/>
          <p:nvPr/>
        </p:nvSpPr>
        <p:spPr>
          <a:xfrm>
            <a:off x="3392424" y="416052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9"/>
          <p:cNvSpPr/>
          <p:nvPr/>
        </p:nvSpPr>
        <p:spPr>
          <a:xfrm>
            <a:off x="3877056" y="416052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4361688" y="416052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4846320" y="416052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9"/>
          <p:cNvSpPr/>
          <p:nvPr/>
        </p:nvSpPr>
        <p:spPr>
          <a:xfrm>
            <a:off x="5330952" y="416052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5815583" y="416052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9"/>
          <p:cNvSpPr/>
          <p:nvPr/>
        </p:nvSpPr>
        <p:spPr>
          <a:xfrm>
            <a:off x="6300216" y="416052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9"/>
          <p:cNvSpPr/>
          <p:nvPr/>
        </p:nvSpPr>
        <p:spPr>
          <a:xfrm>
            <a:off x="8238744" y="4160520"/>
            <a:ext cx="470916" cy="384048"/>
          </a:xfrm>
          <a:prstGeom prst="rect">
            <a:avLst/>
          </a:prstGeom>
          <a:solidFill>
            <a:srgbClr val="2A9DB7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9"/>
          <p:cNvSpPr/>
          <p:nvPr/>
        </p:nvSpPr>
        <p:spPr>
          <a:xfrm>
            <a:off x="7754121" y="4160508"/>
            <a:ext cx="471000" cy="38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9"/>
          <p:cNvSpPr/>
          <p:nvPr/>
        </p:nvSpPr>
        <p:spPr>
          <a:xfrm>
            <a:off x="9692640" y="416052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10177272" y="416052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9"/>
          <p:cNvSpPr/>
          <p:nvPr/>
        </p:nvSpPr>
        <p:spPr>
          <a:xfrm>
            <a:off x="10661904" y="4160520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9"/>
          <p:cNvSpPr txBox="1"/>
          <p:nvPr/>
        </p:nvSpPr>
        <p:spPr>
          <a:xfrm>
            <a:off x="658368" y="474573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Integración y pruebas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2423160" y="467258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9"/>
          <p:cNvSpPr/>
          <p:nvPr/>
        </p:nvSpPr>
        <p:spPr>
          <a:xfrm>
            <a:off x="2907791" y="467258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9"/>
          <p:cNvSpPr/>
          <p:nvPr/>
        </p:nvSpPr>
        <p:spPr>
          <a:xfrm>
            <a:off x="3392424" y="467258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9"/>
          <p:cNvSpPr/>
          <p:nvPr/>
        </p:nvSpPr>
        <p:spPr>
          <a:xfrm>
            <a:off x="3877056" y="467258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9"/>
          <p:cNvSpPr/>
          <p:nvPr/>
        </p:nvSpPr>
        <p:spPr>
          <a:xfrm>
            <a:off x="4361688" y="467258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9"/>
          <p:cNvSpPr/>
          <p:nvPr/>
        </p:nvSpPr>
        <p:spPr>
          <a:xfrm>
            <a:off x="4846320" y="467258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9"/>
          <p:cNvSpPr/>
          <p:nvPr/>
        </p:nvSpPr>
        <p:spPr>
          <a:xfrm>
            <a:off x="5330952" y="467258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9"/>
          <p:cNvSpPr/>
          <p:nvPr/>
        </p:nvSpPr>
        <p:spPr>
          <a:xfrm>
            <a:off x="5815583" y="467258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9"/>
          <p:cNvSpPr/>
          <p:nvPr/>
        </p:nvSpPr>
        <p:spPr>
          <a:xfrm>
            <a:off x="6300216" y="467258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6784848" y="467258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7269480" y="467258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9"/>
          <p:cNvSpPr/>
          <p:nvPr/>
        </p:nvSpPr>
        <p:spPr>
          <a:xfrm>
            <a:off x="7754112" y="467258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9"/>
          <p:cNvSpPr/>
          <p:nvPr/>
        </p:nvSpPr>
        <p:spPr>
          <a:xfrm>
            <a:off x="8238744" y="467258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9208003" y="4677147"/>
            <a:ext cx="471000" cy="3840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9"/>
          <p:cNvSpPr/>
          <p:nvPr/>
        </p:nvSpPr>
        <p:spPr>
          <a:xfrm>
            <a:off x="8723372" y="4672572"/>
            <a:ext cx="471000" cy="3840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9"/>
          <p:cNvSpPr/>
          <p:nvPr/>
        </p:nvSpPr>
        <p:spPr>
          <a:xfrm>
            <a:off x="10661904" y="4672584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9"/>
          <p:cNvSpPr txBox="1"/>
          <p:nvPr/>
        </p:nvSpPr>
        <p:spPr>
          <a:xfrm>
            <a:off x="658368" y="525780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Documentación y entrega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9"/>
          <p:cNvSpPr/>
          <p:nvPr/>
        </p:nvSpPr>
        <p:spPr>
          <a:xfrm>
            <a:off x="2423160" y="518464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9"/>
          <p:cNvSpPr/>
          <p:nvPr/>
        </p:nvSpPr>
        <p:spPr>
          <a:xfrm>
            <a:off x="2907791" y="518464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9"/>
          <p:cNvSpPr/>
          <p:nvPr/>
        </p:nvSpPr>
        <p:spPr>
          <a:xfrm>
            <a:off x="3392424" y="518464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9"/>
          <p:cNvSpPr/>
          <p:nvPr/>
        </p:nvSpPr>
        <p:spPr>
          <a:xfrm>
            <a:off x="3877056" y="518464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9"/>
          <p:cNvSpPr/>
          <p:nvPr/>
        </p:nvSpPr>
        <p:spPr>
          <a:xfrm>
            <a:off x="4361688" y="518464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9"/>
          <p:cNvSpPr/>
          <p:nvPr/>
        </p:nvSpPr>
        <p:spPr>
          <a:xfrm>
            <a:off x="4846320" y="518464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9"/>
          <p:cNvSpPr/>
          <p:nvPr/>
        </p:nvSpPr>
        <p:spPr>
          <a:xfrm>
            <a:off x="5330952" y="518464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9"/>
          <p:cNvSpPr/>
          <p:nvPr/>
        </p:nvSpPr>
        <p:spPr>
          <a:xfrm>
            <a:off x="5815583" y="518464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9"/>
          <p:cNvSpPr/>
          <p:nvPr/>
        </p:nvSpPr>
        <p:spPr>
          <a:xfrm>
            <a:off x="6300216" y="518464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9"/>
          <p:cNvSpPr/>
          <p:nvPr/>
        </p:nvSpPr>
        <p:spPr>
          <a:xfrm>
            <a:off x="6784848" y="518464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9"/>
          <p:cNvSpPr/>
          <p:nvPr/>
        </p:nvSpPr>
        <p:spPr>
          <a:xfrm>
            <a:off x="7269480" y="518464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9"/>
          <p:cNvSpPr/>
          <p:nvPr/>
        </p:nvSpPr>
        <p:spPr>
          <a:xfrm>
            <a:off x="7754112" y="518464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9"/>
          <p:cNvSpPr/>
          <p:nvPr/>
        </p:nvSpPr>
        <p:spPr>
          <a:xfrm>
            <a:off x="8238744" y="518464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9"/>
          <p:cNvSpPr/>
          <p:nvPr/>
        </p:nvSpPr>
        <p:spPr>
          <a:xfrm>
            <a:off x="8723376" y="518464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9"/>
          <p:cNvSpPr/>
          <p:nvPr/>
        </p:nvSpPr>
        <p:spPr>
          <a:xfrm>
            <a:off x="9208008" y="5184648"/>
            <a:ext cx="47091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9"/>
          <p:cNvSpPr txBox="1"/>
          <p:nvPr/>
        </p:nvSpPr>
        <p:spPr>
          <a:xfrm>
            <a:off x="2423160" y="614476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9"/>
          <p:cNvSpPr txBox="1"/>
          <p:nvPr/>
        </p:nvSpPr>
        <p:spPr>
          <a:xfrm>
            <a:off x="4846320" y="6144768"/>
            <a:ext cx="5806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B041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9"/>
          <p:cNvSpPr txBox="1"/>
          <p:nvPr/>
        </p:nvSpPr>
        <p:spPr>
          <a:xfrm>
            <a:off x="10588752" y="6144768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3A916A"/>
                </a:solidFill>
                <a:latin typeface="Arial"/>
                <a:ea typeface="Arial"/>
                <a:cs typeface="Arial"/>
                <a:sym typeface="Arial"/>
              </a:rPr>
              <a:t>FASE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9"/>
          <p:cNvSpPr/>
          <p:nvPr/>
        </p:nvSpPr>
        <p:spPr>
          <a:xfrm>
            <a:off x="3877020" y="2624353"/>
            <a:ext cx="471000" cy="3840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9"/>
          <p:cNvSpPr/>
          <p:nvPr/>
        </p:nvSpPr>
        <p:spPr>
          <a:xfrm>
            <a:off x="4846263" y="2624353"/>
            <a:ext cx="471000" cy="38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9"/>
          <p:cNvSpPr/>
          <p:nvPr/>
        </p:nvSpPr>
        <p:spPr>
          <a:xfrm>
            <a:off x="4846277" y="3136392"/>
            <a:ext cx="471000" cy="384000"/>
          </a:xfrm>
          <a:prstGeom prst="rect">
            <a:avLst/>
          </a:prstGeom>
          <a:solidFill>
            <a:srgbClr val="3A916A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9"/>
          <p:cNvSpPr/>
          <p:nvPr/>
        </p:nvSpPr>
        <p:spPr>
          <a:xfrm>
            <a:off x="4361623" y="3136405"/>
            <a:ext cx="471000" cy="384000"/>
          </a:xfrm>
          <a:prstGeom prst="rect">
            <a:avLst/>
          </a:prstGeom>
          <a:solidFill>
            <a:srgbClr val="3A916A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6300169" y="3136405"/>
            <a:ext cx="471000" cy="38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9"/>
          <p:cNvSpPr/>
          <p:nvPr/>
        </p:nvSpPr>
        <p:spPr>
          <a:xfrm>
            <a:off x="6784831" y="3136405"/>
            <a:ext cx="471000" cy="38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6784812" y="3648468"/>
            <a:ext cx="471000" cy="384000"/>
          </a:xfrm>
          <a:prstGeom prst="rect">
            <a:avLst/>
          </a:prstGeom>
          <a:solidFill>
            <a:srgbClr val="F5B041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9"/>
          <p:cNvSpPr/>
          <p:nvPr/>
        </p:nvSpPr>
        <p:spPr>
          <a:xfrm>
            <a:off x="7740391" y="3648493"/>
            <a:ext cx="471000" cy="384000"/>
          </a:xfrm>
          <a:prstGeom prst="rect">
            <a:avLst/>
          </a:prstGeom>
          <a:solidFill>
            <a:srgbClr val="F5B041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9"/>
          <p:cNvSpPr/>
          <p:nvPr/>
        </p:nvSpPr>
        <p:spPr>
          <a:xfrm>
            <a:off x="7269451" y="4160533"/>
            <a:ext cx="471000" cy="38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9"/>
          <p:cNvSpPr/>
          <p:nvPr/>
        </p:nvSpPr>
        <p:spPr>
          <a:xfrm>
            <a:off x="6784848" y="4160520"/>
            <a:ext cx="471000" cy="38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9"/>
          <p:cNvSpPr/>
          <p:nvPr/>
        </p:nvSpPr>
        <p:spPr>
          <a:xfrm>
            <a:off x="8723386" y="4160533"/>
            <a:ext cx="471000" cy="38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9"/>
          <p:cNvSpPr/>
          <p:nvPr/>
        </p:nvSpPr>
        <p:spPr>
          <a:xfrm>
            <a:off x="9207961" y="4169683"/>
            <a:ext cx="471000" cy="38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9"/>
          <p:cNvSpPr/>
          <p:nvPr/>
        </p:nvSpPr>
        <p:spPr>
          <a:xfrm>
            <a:off x="9692648" y="4672608"/>
            <a:ext cx="471000" cy="38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9"/>
          <p:cNvSpPr/>
          <p:nvPr/>
        </p:nvSpPr>
        <p:spPr>
          <a:xfrm>
            <a:off x="10177298" y="4672620"/>
            <a:ext cx="471000" cy="38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9"/>
          <p:cNvSpPr/>
          <p:nvPr/>
        </p:nvSpPr>
        <p:spPr>
          <a:xfrm>
            <a:off x="10191029" y="5184623"/>
            <a:ext cx="471000" cy="384000"/>
          </a:xfrm>
          <a:prstGeom prst="rect">
            <a:avLst/>
          </a:prstGeom>
          <a:solidFill>
            <a:srgbClr val="3A916A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9"/>
          <p:cNvSpPr/>
          <p:nvPr/>
        </p:nvSpPr>
        <p:spPr>
          <a:xfrm>
            <a:off x="9699467" y="5184673"/>
            <a:ext cx="471000" cy="384000"/>
          </a:xfrm>
          <a:prstGeom prst="rect">
            <a:avLst/>
          </a:prstGeom>
          <a:solidFill>
            <a:srgbClr val="3A916A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9"/>
          <p:cNvSpPr/>
          <p:nvPr/>
        </p:nvSpPr>
        <p:spPr>
          <a:xfrm>
            <a:off x="10682583" y="5184636"/>
            <a:ext cx="471000" cy="38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9"/>
          <p:cNvSpPr txBox="1"/>
          <p:nvPr/>
        </p:nvSpPr>
        <p:spPr>
          <a:xfrm>
            <a:off x="658368" y="573328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22A4E"/>
                </a:solidFill>
                <a:latin typeface="Arial"/>
                <a:ea typeface="Arial"/>
                <a:cs typeface="Arial"/>
                <a:sym typeface="Arial"/>
              </a:rPr>
              <a:t>Defensa del proyecto</a:t>
            </a: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10661904" y="5660136"/>
            <a:ext cx="475488" cy="384048"/>
          </a:xfrm>
          <a:prstGeom prst="rect">
            <a:avLst/>
          </a:prstGeom>
          <a:solidFill>
            <a:srgbClr val="3A916A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9"/>
          <p:cNvSpPr/>
          <p:nvPr/>
        </p:nvSpPr>
        <p:spPr>
          <a:xfrm>
            <a:off x="2423160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9"/>
          <p:cNvSpPr/>
          <p:nvPr/>
        </p:nvSpPr>
        <p:spPr>
          <a:xfrm>
            <a:off x="2907791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9"/>
          <p:cNvSpPr/>
          <p:nvPr/>
        </p:nvSpPr>
        <p:spPr>
          <a:xfrm>
            <a:off x="3392424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9"/>
          <p:cNvSpPr/>
          <p:nvPr/>
        </p:nvSpPr>
        <p:spPr>
          <a:xfrm>
            <a:off x="3877056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9"/>
          <p:cNvSpPr/>
          <p:nvPr/>
        </p:nvSpPr>
        <p:spPr>
          <a:xfrm>
            <a:off x="4361688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9"/>
          <p:cNvSpPr/>
          <p:nvPr/>
        </p:nvSpPr>
        <p:spPr>
          <a:xfrm>
            <a:off x="4846320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9"/>
          <p:cNvSpPr/>
          <p:nvPr/>
        </p:nvSpPr>
        <p:spPr>
          <a:xfrm>
            <a:off x="5330952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9"/>
          <p:cNvSpPr/>
          <p:nvPr/>
        </p:nvSpPr>
        <p:spPr>
          <a:xfrm>
            <a:off x="5815583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9"/>
          <p:cNvSpPr/>
          <p:nvPr/>
        </p:nvSpPr>
        <p:spPr>
          <a:xfrm>
            <a:off x="6300216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9"/>
          <p:cNvSpPr/>
          <p:nvPr/>
        </p:nvSpPr>
        <p:spPr>
          <a:xfrm>
            <a:off x="6784848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9"/>
          <p:cNvSpPr/>
          <p:nvPr/>
        </p:nvSpPr>
        <p:spPr>
          <a:xfrm>
            <a:off x="7269480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9"/>
          <p:cNvSpPr/>
          <p:nvPr/>
        </p:nvSpPr>
        <p:spPr>
          <a:xfrm>
            <a:off x="7754112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9"/>
          <p:cNvSpPr/>
          <p:nvPr/>
        </p:nvSpPr>
        <p:spPr>
          <a:xfrm>
            <a:off x="8238744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9"/>
          <p:cNvSpPr/>
          <p:nvPr/>
        </p:nvSpPr>
        <p:spPr>
          <a:xfrm>
            <a:off x="8723376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9"/>
          <p:cNvSpPr/>
          <p:nvPr/>
        </p:nvSpPr>
        <p:spPr>
          <a:xfrm>
            <a:off x="9208008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9"/>
          <p:cNvSpPr/>
          <p:nvPr/>
        </p:nvSpPr>
        <p:spPr>
          <a:xfrm>
            <a:off x="9692640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9"/>
          <p:cNvSpPr/>
          <p:nvPr/>
        </p:nvSpPr>
        <p:spPr>
          <a:xfrm>
            <a:off x="10177272" y="5660136"/>
            <a:ext cx="47548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0"/>
          <p:cNvSpPr txBox="1"/>
          <p:nvPr/>
        </p:nvSpPr>
        <p:spPr>
          <a:xfrm>
            <a:off x="731520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B041"/>
                </a:solidFill>
                <a:latin typeface="Arial"/>
                <a:ea typeface="Arial"/>
                <a:cs typeface="Arial"/>
                <a:sym typeface="Arial"/>
              </a:rPr>
              <a:t>RESULTADO ESPERADO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0"/>
          <p:cNvSpPr txBox="1"/>
          <p:nvPr/>
        </p:nvSpPr>
        <p:spPr>
          <a:xfrm>
            <a:off x="1097280" y="1143000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datos GPS crudos a información útil para la toma de decisiones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0"/>
          <p:cNvSpPr/>
          <p:nvPr/>
        </p:nvSpPr>
        <p:spPr>
          <a:xfrm>
            <a:off x="868680" y="2743200"/>
            <a:ext cx="1737360" cy="132588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0"/>
          <p:cNvSpPr txBox="1"/>
          <p:nvPr/>
        </p:nvSpPr>
        <p:spPr>
          <a:xfrm>
            <a:off x="868680" y="299923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0"/>
          <p:cNvSpPr txBox="1"/>
          <p:nvPr/>
        </p:nvSpPr>
        <p:spPr>
          <a:xfrm>
            <a:off x="868680" y="349300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Datos crudos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4" name="Google Shape;544;p10"/>
          <p:cNvCxnSpPr/>
          <p:nvPr/>
        </p:nvCxnSpPr>
        <p:spPr>
          <a:xfrm>
            <a:off x="2624328" y="3401568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45" name="Google Shape;545;p10"/>
          <p:cNvSpPr/>
          <p:nvPr/>
        </p:nvSpPr>
        <p:spPr>
          <a:xfrm>
            <a:off x="3108960" y="2743200"/>
            <a:ext cx="1737360" cy="1325880"/>
          </a:xfrm>
          <a:prstGeom prst="roundRect">
            <a:avLst>
              <a:gd fmla="val 16667" name="adj"/>
            </a:avLst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0"/>
          <p:cNvSpPr txBox="1"/>
          <p:nvPr/>
        </p:nvSpPr>
        <p:spPr>
          <a:xfrm>
            <a:off x="3108960" y="299923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ETL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0"/>
          <p:cNvSpPr txBox="1"/>
          <p:nvPr/>
        </p:nvSpPr>
        <p:spPr>
          <a:xfrm>
            <a:off x="3108960" y="349300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Datos procesados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8" name="Google Shape;548;p10"/>
          <p:cNvCxnSpPr/>
          <p:nvPr/>
        </p:nvCxnSpPr>
        <p:spPr>
          <a:xfrm>
            <a:off x="4864608" y="3401568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49" name="Google Shape;549;p10"/>
          <p:cNvSpPr/>
          <p:nvPr/>
        </p:nvSpPr>
        <p:spPr>
          <a:xfrm>
            <a:off x="5349240" y="2743200"/>
            <a:ext cx="1737360" cy="1325880"/>
          </a:xfrm>
          <a:prstGeom prst="roundRect">
            <a:avLst>
              <a:gd fmla="val 16667" name="adj"/>
            </a:avLst>
          </a:prstGeom>
          <a:solidFill>
            <a:srgbClr val="3A916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0"/>
          <p:cNvSpPr txBox="1"/>
          <p:nvPr/>
        </p:nvSpPr>
        <p:spPr>
          <a:xfrm>
            <a:off x="5349240" y="299923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0"/>
          <p:cNvSpPr txBox="1"/>
          <p:nvPr/>
        </p:nvSpPr>
        <p:spPr>
          <a:xfrm>
            <a:off x="5349240" y="349300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Rutas y paradas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10"/>
          <p:cNvCxnSpPr/>
          <p:nvPr/>
        </p:nvCxnSpPr>
        <p:spPr>
          <a:xfrm>
            <a:off x="7104888" y="3401568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53" name="Google Shape;553;p10"/>
          <p:cNvSpPr/>
          <p:nvPr/>
        </p:nvSpPr>
        <p:spPr>
          <a:xfrm>
            <a:off x="7589520" y="2743200"/>
            <a:ext cx="1737360" cy="1325880"/>
          </a:xfrm>
          <a:prstGeom prst="roundRect">
            <a:avLst>
              <a:gd fmla="val 16667" name="adj"/>
            </a:avLst>
          </a:prstGeom>
          <a:solidFill>
            <a:srgbClr val="F5B0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0"/>
          <p:cNvSpPr txBox="1"/>
          <p:nvPr/>
        </p:nvSpPr>
        <p:spPr>
          <a:xfrm>
            <a:off x="7589520" y="299923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0"/>
          <p:cNvSpPr txBox="1"/>
          <p:nvPr/>
        </p:nvSpPr>
        <p:spPr>
          <a:xfrm>
            <a:off x="7589520" y="349300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6" name="Google Shape;556;p10"/>
          <p:cNvCxnSpPr/>
          <p:nvPr/>
        </p:nvCxnSpPr>
        <p:spPr>
          <a:xfrm>
            <a:off x="9345168" y="3401568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57" name="Google Shape;557;p10"/>
          <p:cNvSpPr/>
          <p:nvPr/>
        </p:nvSpPr>
        <p:spPr>
          <a:xfrm>
            <a:off x="9829800" y="2743200"/>
            <a:ext cx="1737360" cy="1325880"/>
          </a:xfrm>
          <a:prstGeom prst="roundRect">
            <a:avLst>
              <a:gd fmla="val 16667" name="adj"/>
            </a:avLst>
          </a:prstGeom>
          <a:solidFill>
            <a:srgbClr val="2A9D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0"/>
          <p:cNvSpPr txBox="1"/>
          <p:nvPr/>
        </p:nvSpPr>
        <p:spPr>
          <a:xfrm>
            <a:off x="9829800" y="299923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0"/>
          <p:cNvSpPr txBox="1"/>
          <p:nvPr/>
        </p:nvSpPr>
        <p:spPr>
          <a:xfrm>
            <a:off x="9829800" y="349300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Monitoreo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0"/>
          <p:cNvSpPr txBox="1"/>
          <p:nvPr/>
        </p:nvSpPr>
        <p:spPr>
          <a:xfrm>
            <a:off x="1280160" y="489204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CE6F3"/>
                </a:solidFill>
                <a:latin typeface="Arial"/>
                <a:ea typeface="Arial"/>
                <a:cs typeface="Arial"/>
                <a:sym typeface="Arial"/>
              </a:rPr>
              <a:t>Transformar telemetría GPS en información geoespacial procesada para apoyar el monitoreo y análisis de las operaciones de Transportes Artisa.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0"/>
          <p:cNvSpPr txBox="1"/>
          <p:nvPr/>
        </p:nvSpPr>
        <p:spPr>
          <a:xfrm>
            <a:off x="4297680" y="6080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B041"/>
                </a:solidFill>
                <a:latin typeface="Arial"/>
                <a:ea typeface="Arial"/>
                <a:cs typeface="Arial"/>
                <a:sym typeface="Arial"/>
              </a:rPr>
              <a:t>PROYECTO APT · ARTISA TRANSPORTES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